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046460C-964F-4D82-9F9C-57513EA3770B}">
          <p14:sldIdLst>
            <p14:sldId id="256"/>
          </p14:sldIdLst>
        </p14:section>
        <p14:section name="Research" id="{60847F94-6EE8-4006-5A93-62D589B7367F}">
          <p14:sldIdLst>
            <p14:sldId id="257"/>
            <p14:sldId id="258"/>
          </p14:sldIdLst>
        </p14:section>
        <p14:section name="Personas" id="{E7025ED4-3C0C-A95B-5D81-E58D01A8E0FA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User Journey" id="{B3CD7999-4871-C1D6-4999-5682EB358AE7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938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926080"/>
            <a:ext cx="10543032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4572000"/>
            <a:ext cx="1054303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880360"/>
            <a:ext cx="1054303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749040"/>
            <a:ext cx="1054303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udent details"/>
          <p:cNvSpPr txBox="1"/>
          <p:nvPr/>
        </p:nvSpPr>
        <p:spPr>
          <a:xfrm>
            <a:off x="548640" y="457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Name : Daivik Sheth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PRN: 1262243520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Panel: </a:t>
            </a:r>
            <a:r>
              <a:rPr lang="en-US" sz="1300" dirty="0" err="1">
                <a:solidFill>
                  <a:schemeClr val="tx2"/>
                </a:solidFill>
              </a:rPr>
              <a:t>TYBTech</a:t>
            </a:r>
            <a:r>
              <a:rPr lang="en-US" sz="1300" dirty="0">
                <a:solidFill>
                  <a:schemeClr val="tx2"/>
                </a:solidFill>
              </a:rPr>
              <a:t> AI-DS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Batch: F2</a:t>
            </a:r>
            <a:endParaRPr lang="en-US" sz="1300" dirty="0"/>
          </a:p>
        </p:txBody>
      </p:sp>
      <p:sp>
        <p:nvSpPr>
          <p:cNvPr id="3" name="Green dot"/>
          <p:cNvSpPr/>
          <p:nvPr/>
        </p:nvSpPr>
        <p:spPr>
          <a:xfrm>
            <a:off x="5870448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926080"/>
            <a:ext cx="10543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UI/UX Assignment 02: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Personas and User Journey</a:t>
            </a:r>
            <a:endParaRPr lang="en-US" sz="4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45720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Domain: Gamified </a:t>
            </a:r>
            <a:r>
              <a:rPr lang="en-US" sz="1800" dirty="0" err="1">
                <a:solidFill>
                  <a:schemeClr val="tx2"/>
                </a:solidFill>
              </a:rPr>
              <a:t>EduTech</a:t>
            </a:r>
            <a:r>
              <a:rPr lang="en-US" sz="1800" dirty="0">
                <a:solidFill>
                  <a:schemeClr val="tx2"/>
                </a:solidFill>
              </a:rPr>
              <a:t>  ·  Duolingo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Empathy Map</a:t>
            </a:r>
            <a:endParaRPr lang="en-US" sz="3200" dirty="0"/>
          </a:p>
        </p:txBody>
      </p:sp>
      <p:sp>
        <p:nvSpPr>
          <p:cNvPr id="3" name="SAYS panel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4" name="SAYS label"/>
          <p:cNvSpPr txBox="1"/>
          <p:nvPr/>
        </p:nvSpPr>
        <p:spPr>
          <a:xfrm>
            <a:off x="822960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SAYS</a:t>
            </a:r>
            <a:endParaRPr lang="en-US" sz="1100" dirty="0"/>
          </a:p>
        </p:txBody>
      </p:sp>
      <p:sp>
        <p:nvSpPr>
          <p:cNvPr id="5" name="SAYS text"/>
          <p:cNvSpPr txBox="1"/>
          <p:nvPr/>
        </p:nvSpPr>
        <p:spPr>
          <a:xfrm>
            <a:off x="822960" y="1938528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"I'm on a 40-day streak but I still can't hold a conversation."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"Why am I translating sentences nobody would ever say?"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"I ran out of hearts again, I'll try tomorrow."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"Honestly, I only opened it to save my streak."</a:t>
            </a:r>
            <a:endParaRPr lang="en-US" sz="1400" dirty="0"/>
          </a:p>
        </p:txBody>
      </p:sp>
      <p:sp>
        <p:nvSpPr>
          <p:cNvPr id="6" name="THINKS panel"/>
          <p:cNvSpPr/>
          <p:nvPr/>
        </p:nvSpPr>
        <p:spPr>
          <a:xfrm>
            <a:off x="6199632" y="137160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7" name="THINKS label"/>
          <p:cNvSpPr txBox="1"/>
          <p:nvPr/>
        </p:nvSpPr>
        <p:spPr>
          <a:xfrm>
            <a:off x="6473952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THINKS</a:t>
            </a:r>
            <a:endParaRPr lang="en-US" sz="1100" dirty="0"/>
          </a:p>
        </p:txBody>
      </p:sp>
      <p:sp>
        <p:nvSpPr>
          <p:cNvPr id="8" name="THINKS text"/>
          <p:cNvSpPr txBox="1"/>
          <p:nvPr/>
        </p:nvSpPr>
        <p:spPr>
          <a:xfrm>
            <a:off x="6473952" y="1938528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Wonders if finishing fast means she is actually learning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Believes grammar is never explained, only picked up by guessing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Worries a broken streak means starting over from nothing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Suspects the fun is built to keep her tapping, not speaking</a:t>
            </a:r>
            <a:endParaRPr lang="en-US" sz="1400" dirty="0"/>
          </a:p>
        </p:txBody>
      </p:sp>
      <p:sp>
        <p:nvSpPr>
          <p:cNvPr id="9" name="DOES panel"/>
          <p:cNvSpPr/>
          <p:nvPr/>
        </p:nvSpPr>
        <p:spPr>
          <a:xfrm>
            <a:off x="548640" y="393192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0" name="DOES label"/>
          <p:cNvSpPr txBox="1"/>
          <p:nvPr/>
        </p:nvSpPr>
        <p:spPr>
          <a:xfrm>
            <a:off x="822960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DOES</a:t>
            </a:r>
            <a:endParaRPr lang="en-US" sz="1100" dirty="0"/>
          </a:p>
        </p:txBody>
      </p:sp>
      <p:sp>
        <p:nvSpPr>
          <p:cNvPr id="11" name="DOES text"/>
          <p:cNvSpPr txBox="1"/>
          <p:nvPr/>
        </p:nvSpPr>
        <p:spPr>
          <a:xfrm>
            <a:off x="822960" y="4498848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Does a quick lesson late at night just before the streak resets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Googles a grammar rule because the app doesn't explain it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Taps "Can't speak now" whenever other people are around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Waits for hearts to refill or watches an ad to continue</a:t>
            </a:r>
            <a:endParaRPr lang="en-US" sz="1400" dirty="0"/>
          </a:p>
        </p:txBody>
      </p:sp>
      <p:sp>
        <p:nvSpPr>
          <p:cNvPr id="12" name="FEELS panel"/>
          <p:cNvSpPr/>
          <p:nvPr/>
        </p:nvSpPr>
        <p:spPr>
          <a:xfrm>
            <a:off x="6199632" y="393192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3" name="FEELS label"/>
          <p:cNvSpPr txBox="1"/>
          <p:nvPr/>
        </p:nvSpPr>
        <p:spPr>
          <a:xfrm>
            <a:off x="6473952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FEELS</a:t>
            </a:r>
            <a:endParaRPr lang="en-US" sz="1100" dirty="0"/>
          </a:p>
        </p:txBody>
      </p:sp>
      <p:sp>
        <p:nvSpPr>
          <p:cNvPr id="14" name="FEELS text"/>
          <p:cNvSpPr txBox="1"/>
          <p:nvPr/>
        </p:nvSpPr>
        <p:spPr>
          <a:xfrm>
            <a:off x="6473952" y="4498848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Motivated by the streak flame and a cheering owl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Frustrated when an answer that felt right is marked wrong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Guilty after missing a day or two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Proud after finishing a unit or moving up a league</a:t>
            </a:r>
            <a:endParaRPr lang="en-US" sz="1400" dirty="0"/>
          </a:p>
        </p:txBody>
      </p:sp>
      <p:sp>
        <p:nvSpPr>
          <p:cNvPr id="15" name="Center label"/>
          <p:cNvSpPr/>
          <p:nvPr/>
        </p:nvSpPr>
        <p:spPr>
          <a:xfrm>
            <a:off x="4818888" y="3474720"/>
            <a:ext cx="25603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Center label text"/>
          <p:cNvSpPr txBox="1"/>
          <p:nvPr/>
        </p:nvSpPr>
        <p:spPr>
          <a:xfrm>
            <a:off x="4818888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Duolingo Learner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User Pain Points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Number text 1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Pain title 1"/>
          <p:cNvSpPr txBox="1"/>
          <p:nvPr/>
        </p:nvSpPr>
        <p:spPr>
          <a:xfrm>
            <a:off x="1234440" y="1581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streak that counts showing up, not learning</a:t>
            </a:r>
            <a:endParaRPr lang="en-US" sz="1800" dirty="0"/>
          </a:p>
        </p:txBody>
      </p:sp>
      <p:sp>
        <p:nvSpPr>
          <p:cNvPr id="6" name="Pain text 1"/>
          <p:cNvSpPr txBox="1"/>
          <p:nvPr/>
        </p:nvSpPr>
        <p:spPr>
          <a:xfrm>
            <a:off x="1234440" y="228600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Karan does a one-minute lesson at 11:55 pm to save his streak. The number keeps climbing while his Japanese stays where it was. A streak counts days, not skills.</a:t>
            </a:r>
            <a:endParaRPr lang="en-US" sz="1500" dirty="0"/>
          </a:p>
        </p:txBody>
      </p:sp>
      <p:sp>
        <p:nvSpPr>
          <p:cNvPr id="7" name="Number 2"/>
          <p:cNvSpPr/>
          <p:nvPr/>
        </p:nvSpPr>
        <p:spPr>
          <a:xfrm>
            <a:off x="6309360" y="1600200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Number text 2"/>
          <p:cNvSpPr txBox="1"/>
          <p:nvPr/>
        </p:nvSpPr>
        <p:spPr>
          <a:xfrm>
            <a:off x="6309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Pain title 2"/>
          <p:cNvSpPr txBox="1"/>
          <p:nvPr/>
        </p:nvSpPr>
        <p:spPr>
          <a:xfrm>
            <a:off x="6995160" y="1581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Grammar is learned by guessing</a:t>
            </a:r>
            <a:endParaRPr lang="en-US" sz="1800" dirty="0"/>
          </a:p>
        </p:txBody>
      </p:sp>
      <p:sp>
        <p:nvSpPr>
          <p:cNvPr id="10" name="Pain text 2"/>
          <p:cNvSpPr txBox="1"/>
          <p:nvPr/>
        </p:nvSpPr>
        <p:spPr>
          <a:xfrm>
            <a:off x="6995160" y="228600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Neha gets a sentence wrong and sees only the correct answer, never the rule. Meera misses the same tense three lessons in a row. The explanation exists, but nothing sends them to it at the right moment.</a:t>
            </a:r>
            <a:endParaRPr lang="en-US" sz="1500" dirty="0"/>
          </a:p>
        </p:txBody>
      </p:sp>
      <p:sp>
        <p:nvSpPr>
          <p:cNvPr id="11" name="Number 3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Number text 3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Pain title 3"/>
          <p:cNvSpPr txBox="1"/>
          <p:nvPr/>
        </p:nvSpPr>
        <p:spPr>
          <a:xfrm>
            <a:off x="1234440" y="391363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Hearts stop practice when learners need it most</a:t>
            </a:r>
            <a:endParaRPr lang="en-US" sz="1800" dirty="0"/>
          </a:p>
        </p:txBody>
      </p:sp>
      <p:sp>
        <p:nvSpPr>
          <p:cNvPr id="14" name="Pain text 3"/>
          <p:cNvSpPr txBox="1"/>
          <p:nvPr/>
        </p:nvSpPr>
        <p:spPr>
          <a:xfrm>
            <a:off x="1234440" y="46177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Rahul makes a few mistakes in a hard unit and runs out of hearts halfway through. The learners who struggle most get the least practice, and the way out is waiting, ads, or paying.</a:t>
            </a:r>
            <a:endParaRPr lang="en-US" sz="1500" dirty="0"/>
          </a:p>
        </p:txBody>
      </p:sp>
      <p:sp>
        <p:nvSpPr>
          <p:cNvPr id="15" name="Number 4"/>
          <p:cNvSpPr/>
          <p:nvPr/>
        </p:nvSpPr>
        <p:spPr>
          <a:xfrm>
            <a:off x="6309360" y="3931920"/>
            <a:ext cx="457200" cy="4572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Number text 4"/>
          <p:cNvSpPr txBox="1"/>
          <p:nvPr/>
        </p:nvSpPr>
        <p:spPr>
          <a:xfrm>
            <a:off x="63093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Pain title 4"/>
          <p:cNvSpPr txBox="1"/>
          <p:nvPr/>
        </p:nvSpPr>
        <p:spPr>
          <a:xfrm>
            <a:off x="6995160" y="391363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Plenty of translating, very little talking</a:t>
            </a:r>
            <a:endParaRPr lang="en-US" sz="1800" dirty="0"/>
          </a:p>
        </p:txBody>
      </p:sp>
      <p:sp>
        <p:nvSpPr>
          <p:cNvPr id="18" name="Pain text 4"/>
          <p:cNvSpPr txBox="1"/>
          <p:nvPr/>
        </p:nvSpPr>
        <p:spPr>
          <a:xfrm>
            <a:off x="6995160" y="46177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Sneha can match every word in her German unit but would freeze ordering food. Speaking exercises are short and easy to skip, and nothing simulates a real conversation.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een dot"/>
          <p:cNvSpPr/>
          <p:nvPr/>
        </p:nvSpPr>
        <p:spPr>
          <a:xfrm>
            <a:off x="5870448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8803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Personas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7490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Domain: Language Learning  ·  Duolingo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vatar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" name="Avatar initials"/>
          <p:cNvSpPr txBox="1"/>
          <p:nvPr/>
        </p:nvSpPr>
        <p:spPr>
          <a:xfrm>
            <a:off x="548640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NJ</a:t>
            </a:r>
            <a:endParaRPr lang="en-US" sz="2800" dirty="0"/>
          </a:p>
        </p:txBody>
      </p:sp>
      <p:sp>
        <p:nvSpPr>
          <p:cNvPr id="4" name="Persona name"/>
          <p:cNvSpPr txBox="1"/>
          <p:nvPr/>
        </p:nvSpPr>
        <p:spPr>
          <a:xfrm>
            <a:off x="54864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Neha Joshi</a:t>
            </a:r>
            <a:endParaRPr lang="en-US" sz="2800" dirty="0"/>
          </a:p>
        </p:txBody>
      </p:sp>
      <p:sp>
        <p:nvSpPr>
          <p:cNvPr id="5" name="Persona role"/>
          <p:cNvSpPr txBox="1"/>
          <p:nvPr/>
        </p:nvSpPr>
        <p:spPr>
          <a:xfrm>
            <a:off x="548640" y="22128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Complete Beginner, First Steps in Spanish</a:t>
            </a:r>
            <a:endParaRPr lang="en-US" sz="1400" dirty="0"/>
          </a:p>
        </p:txBody>
      </p:sp>
      <p:sp>
        <p:nvSpPr>
          <p:cNvPr id="6" name="Quote panel"/>
          <p:cNvSpPr/>
          <p:nvPr/>
        </p:nvSpPr>
        <p:spPr>
          <a:xfrm>
            <a:off x="548640" y="2834640"/>
            <a:ext cx="33832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Quote"/>
          <p:cNvSpPr txBox="1"/>
          <p:nvPr/>
        </p:nvSpPr>
        <p:spPr>
          <a:xfrm>
            <a:off x="777240" y="2926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"I got it wrong and it just showed me the right answer. I still don't know why."</a:t>
            </a:r>
            <a:endParaRPr lang="en-US" sz="1400" dirty="0"/>
          </a:p>
        </p:txBody>
      </p:sp>
      <p:sp>
        <p:nvSpPr>
          <p:cNvPr id="8" name="AGE label"/>
          <p:cNvSpPr txBox="1"/>
          <p:nvPr/>
        </p:nvSpPr>
        <p:spPr>
          <a:xfrm>
            <a:off x="548640" y="4160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AGE</a:t>
            </a:r>
            <a:endParaRPr lang="en-US" sz="1000" dirty="0"/>
          </a:p>
        </p:txBody>
      </p:sp>
      <p:sp>
        <p:nvSpPr>
          <p:cNvPr id="9" name="AGE value"/>
          <p:cNvSpPr txBox="1"/>
          <p:nvPr/>
        </p:nvSpPr>
        <p:spPr>
          <a:xfrm>
            <a:off x="548640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18</a:t>
            </a:r>
            <a:endParaRPr lang="en-US" sz="1400" dirty="0"/>
          </a:p>
        </p:txBody>
      </p:sp>
      <p:sp>
        <p:nvSpPr>
          <p:cNvPr id="10" name="LOCATION label"/>
          <p:cNvSpPr txBox="1"/>
          <p:nvPr/>
        </p:nvSpPr>
        <p:spPr>
          <a:xfrm>
            <a:off x="1737360" y="4160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LOCATION</a:t>
            </a:r>
            <a:endParaRPr lang="en-US" sz="1000" dirty="0"/>
          </a:p>
        </p:txBody>
      </p:sp>
      <p:sp>
        <p:nvSpPr>
          <p:cNvPr id="11" name="LOCATION value"/>
          <p:cNvSpPr txBox="1"/>
          <p:nvPr/>
        </p:nvSpPr>
        <p:spPr>
          <a:xfrm>
            <a:off x="1737360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Nashik, India</a:t>
            </a:r>
            <a:endParaRPr lang="en-US" sz="1400" dirty="0"/>
          </a:p>
        </p:txBody>
      </p:sp>
      <p:sp>
        <p:nvSpPr>
          <p:cNvPr id="12" name="OCCUPATION label"/>
          <p:cNvSpPr txBox="1"/>
          <p:nvPr/>
        </p:nvSpPr>
        <p:spPr>
          <a:xfrm>
            <a:off x="548640" y="4846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OCCUPATION</a:t>
            </a:r>
            <a:endParaRPr lang="en-US" sz="1000" dirty="0"/>
          </a:p>
        </p:txBody>
      </p:sp>
      <p:sp>
        <p:nvSpPr>
          <p:cNvPr id="13" name="OCCUPATION value"/>
          <p:cNvSpPr txBox="1"/>
          <p:nvPr/>
        </p:nvSpPr>
        <p:spPr>
          <a:xfrm>
            <a:off x="548640" y="5074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1st-year B.Com student, learning Spanish for fun</a:t>
            </a:r>
            <a:endParaRPr lang="en-US" sz="1400" dirty="0"/>
          </a:p>
        </p:txBody>
      </p:sp>
      <p:sp>
        <p:nvSpPr>
          <p:cNvPr id="14" name="PLATFORM USE label"/>
          <p:cNvSpPr txBox="1"/>
          <p:nvPr/>
        </p:nvSpPr>
        <p:spPr>
          <a:xfrm>
            <a:off x="548640" y="5623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PLATFORM USE</a:t>
            </a:r>
            <a:endParaRPr lang="en-US" sz="1000" dirty="0"/>
          </a:p>
        </p:txBody>
      </p:sp>
      <p:sp>
        <p:nvSpPr>
          <p:cNvPr id="15" name="PLATFORM USE value"/>
          <p:cNvSpPr txBox="1"/>
          <p:nvPr/>
        </p:nvSpPr>
        <p:spPr>
          <a:xfrm>
            <a:off x="548640" y="5852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Duolingo web and app, Spanish, about 10 minutes a day</a:t>
            </a:r>
            <a:endParaRPr lang="en-US" sz="1400" dirty="0"/>
          </a:p>
        </p:txBody>
      </p:sp>
      <p:sp>
        <p:nvSpPr>
          <p:cNvPr id="16" name="Icon circle"/>
          <p:cNvSpPr/>
          <p:nvPr/>
        </p:nvSpPr>
        <p:spPr>
          <a:xfrm>
            <a:off x="4480560" y="502920"/>
            <a:ext cx="457200" cy="457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Goal icon"/>
          <p:cNvSpPr/>
          <p:nvPr/>
        </p:nvSpPr>
        <p:spPr>
          <a:xfrm>
            <a:off x="4608576" y="630936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Goals heading"/>
          <p:cNvSpPr txBox="1"/>
          <p:nvPr/>
        </p:nvSpPr>
        <p:spPr>
          <a:xfrm>
            <a:off x="5120640" y="502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Goals</a:t>
            </a:r>
            <a:endParaRPr lang="en-US" sz="2000" dirty="0"/>
          </a:p>
        </p:txBody>
      </p:sp>
      <p:sp>
        <p:nvSpPr>
          <p:cNvPr id="19" name="Goals list"/>
          <p:cNvSpPr txBox="1"/>
          <p:nvPr/>
        </p:nvSpPr>
        <p:spPr>
          <a:xfrm>
            <a:off x="4480560" y="123444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gentle start that introduces new words before testing them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Short lessons that fit between classes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Early wins that show she is making progress</a:t>
            </a:r>
            <a:endParaRPr lang="en-US" sz="1500" dirty="0"/>
          </a:p>
        </p:txBody>
      </p:sp>
      <p:sp>
        <p:nvSpPr>
          <p:cNvPr id="20" name="Icon circle"/>
          <p:cNvSpPr/>
          <p:nvPr/>
        </p:nvSpPr>
        <p:spPr>
          <a:xfrm>
            <a:off x="8183880" y="502920"/>
            <a:ext cx="457200" cy="457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Frustration icon"/>
          <p:cNvSpPr/>
          <p:nvPr/>
        </p:nvSpPr>
        <p:spPr>
          <a:xfrm>
            <a:off x="8302752" y="640080"/>
            <a:ext cx="219456" cy="192024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2" name="Frustrations heading"/>
          <p:cNvSpPr txBox="1"/>
          <p:nvPr/>
        </p:nvSpPr>
        <p:spPr>
          <a:xfrm>
            <a:off x="8823960" y="502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Frustrations</a:t>
            </a:r>
            <a:endParaRPr lang="en-US" sz="2000" dirty="0"/>
          </a:p>
        </p:txBody>
      </p:sp>
      <p:sp>
        <p:nvSpPr>
          <p:cNvPr id="23" name="Frustrations list"/>
          <p:cNvSpPr txBox="1"/>
          <p:nvPr/>
        </p:nvSpPr>
        <p:spPr>
          <a:xfrm>
            <a:off x="8183880" y="123444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Gets marked wrong with no explanation of why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Sentences get longer fast, with no warning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Unsure if she is on the right level after week one</a:t>
            </a:r>
            <a:endParaRPr lang="en-US" sz="1500" dirty="0"/>
          </a:p>
        </p:txBody>
      </p:sp>
      <p:sp>
        <p:nvSpPr>
          <p:cNvPr id="24" name="Usage icon"/>
          <p:cNvSpPr/>
          <p:nvPr/>
        </p:nvSpPr>
        <p:spPr>
          <a:xfrm rot="5400000">
            <a:off x="4480560" y="3721608"/>
            <a:ext cx="155448" cy="18288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5" name="Usage heading"/>
          <p:cNvSpPr txBox="1"/>
          <p:nvPr/>
        </p:nvSpPr>
        <p:spPr>
          <a:xfrm>
            <a:off x="480060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this person actually uses the platform</a:t>
            </a:r>
            <a:endParaRPr lang="en-US" sz="1800" dirty="0"/>
          </a:p>
        </p:txBody>
      </p:sp>
      <p:sp>
        <p:nvSpPr>
          <p:cNvPr id="26" name="Usage panel"/>
          <p:cNvSpPr/>
          <p:nvPr/>
        </p:nvSpPr>
        <p:spPr>
          <a:xfrm>
            <a:off x="4480560" y="4206240"/>
            <a:ext cx="71780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27" name="ACTIONS label"/>
          <p:cNvSpPr txBox="1"/>
          <p:nvPr/>
        </p:nvSpPr>
        <p:spPr>
          <a:xfrm>
            <a:off x="4754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ACTIONS</a:t>
            </a:r>
            <a:endParaRPr lang="en-US" sz="1000" dirty="0"/>
          </a:p>
        </p:txBody>
      </p:sp>
      <p:sp>
        <p:nvSpPr>
          <p:cNvPr id="28" name="ACTIONS text"/>
          <p:cNvSpPr txBox="1"/>
          <p:nvPr/>
        </p:nvSpPr>
        <p:spPr>
          <a:xfrm>
            <a:off x="4754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Does one unit after college, taps words from the word bank, repeats missed questions without knowing the reason.</a:t>
            </a:r>
            <a:endParaRPr lang="en-US" sz="1300" dirty="0"/>
          </a:p>
        </p:txBody>
      </p:sp>
      <p:sp>
        <p:nvSpPr>
          <p:cNvPr id="29" name="FEELINGS label"/>
          <p:cNvSpPr txBox="1"/>
          <p:nvPr/>
        </p:nvSpPr>
        <p:spPr>
          <a:xfrm>
            <a:off x="7040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FEELINGS</a:t>
            </a:r>
            <a:endParaRPr lang="en-US" sz="1000" dirty="0"/>
          </a:p>
        </p:txBody>
      </p:sp>
      <p:sp>
        <p:nvSpPr>
          <p:cNvPr id="30" name="FEELINGS text"/>
          <p:cNvSpPr txBox="1"/>
          <p:nvPr/>
        </p:nvSpPr>
        <p:spPr>
          <a:xfrm>
            <a:off x="7040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Excited at the start; confused when a mistake goes unexplained.</a:t>
            </a:r>
            <a:endParaRPr lang="en-US" sz="1300" dirty="0"/>
          </a:p>
        </p:txBody>
      </p:sp>
      <p:sp>
        <p:nvSpPr>
          <p:cNvPr id="31" name="OPPORTUNITY label"/>
          <p:cNvSpPr txBox="1"/>
          <p:nvPr/>
        </p:nvSpPr>
        <p:spPr>
          <a:xfrm>
            <a:off x="9326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OPPORTUNITY</a:t>
            </a:r>
            <a:endParaRPr lang="en-US" sz="1000" dirty="0"/>
          </a:p>
        </p:txBody>
      </p:sp>
      <p:sp>
        <p:nvSpPr>
          <p:cNvPr id="32" name="OPPORTUNITY text"/>
          <p:cNvSpPr txBox="1"/>
          <p:nvPr/>
        </p:nvSpPr>
        <p:spPr>
          <a:xfrm>
            <a:off x="9326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 one-line "why" beside every wrong answer, linked to the rule.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vatar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" name="Avatar initials"/>
          <p:cNvSpPr txBox="1"/>
          <p:nvPr/>
        </p:nvSpPr>
        <p:spPr>
          <a:xfrm>
            <a:off x="548640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KM</a:t>
            </a:r>
            <a:endParaRPr lang="en-US" sz="2800" dirty="0"/>
          </a:p>
        </p:txBody>
      </p:sp>
      <p:sp>
        <p:nvSpPr>
          <p:cNvPr id="4" name="Persona name"/>
          <p:cNvSpPr txBox="1"/>
          <p:nvPr/>
        </p:nvSpPr>
        <p:spPr>
          <a:xfrm>
            <a:off x="54864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Karan Malhotra</a:t>
            </a:r>
            <a:endParaRPr lang="en-US" sz="2800" dirty="0"/>
          </a:p>
        </p:txBody>
      </p:sp>
      <p:sp>
        <p:nvSpPr>
          <p:cNvPr id="5" name="Persona role"/>
          <p:cNvSpPr txBox="1"/>
          <p:nvPr/>
        </p:nvSpPr>
        <p:spPr>
          <a:xfrm>
            <a:off x="548640" y="22128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Streak Chaser, Daily Habit Learner of Japanese</a:t>
            </a:r>
            <a:endParaRPr lang="en-US" sz="1400" dirty="0"/>
          </a:p>
        </p:txBody>
      </p:sp>
      <p:sp>
        <p:nvSpPr>
          <p:cNvPr id="6" name="Quote panel"/>
          <p:cNvSpPr/>
          <p:nvPr/>
        </p:nvSpPr>
        <p:spPr>
          <a:xfrm>
            <a:off x="548640" y="2834640"/>
            <a:ext cx="33832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Quote"/>
          <p:cNvSpPr txBox="1"/>
          <p:nvPr/>
        </p:nvSpPr>
        <p:spPr>
          <a:xfrm>
            <a:off x="777240" y="2926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"200 days without a miss, and I still can't read a menu."</a:t>
            </a:r>
            <a:endParaRPr lang="en-US" sz="1400" dirty="0"/>
          </a:p>
        </p:txBody>
      </p:sp>
      <p:sp>
        <p:nvSpPr>
          <p:cNvPr id="8" name="AGE label"/>
          <p:cNvSpPr txBox="1"/>
          <p:nvPr/>
        </p:nvSpPr>
        <p:spPr>
          <a:xfrm>
            <a:off x="548640" y="4160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AGE</a:t>
            </a:r>
            <a:endParaRPr lang="en-US" sz="1000" dirty="0"/>
          </a:p>
        </p:txBody>
      </p:sp>
      <p:sp>
        <p:nvSpPr>
          <p:cNvPr id="9" name="AGE value"/>
          <p:cNvSpPr txBox="1"/>
          <p:nvPr/>
        </p:nvSpPr>
        <p:spPr>
          <a:xfrm>
            <a:off x="548640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22</a:t>
            </a:r>
            <a:endParaRPr lang="en-US" sz="1400" dirty="0"/>
          </a:p>
        </p:txBody>
      </p:sp>
      <p:sp>
        <p:nvSpPr>
          <p:cNvPr id="10" name="LOCATION label"/>
          <p:cNvSpPr txBox="1"/>
          <p:nvPr/>
        </p:nvSpPr>
        <p:spPr>
          <a:xfrm>
            <a:off x="1737360" y="4160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LOCATION</a:t>
            </a:r>
            <a:endParaRPr lang="en-US" sz="1000" dirty="0"/>
          </a:p>
        </p:txBody>
      </p:sp>
      <p:sp>
        <p:nvSpPr>
          <p:cNvPr id="11" name="LOCATION value"/>
          <p:cNvSpPr txBox="1"/>
          <p:nvPr/>
        </p:nvSpPr>
        <p:spPr>
          <a:xfrm>
            <a:off x="1737360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New Delhi, India</a:t>
            </a:r>
            <a:endParaRPr lang="en-US" sz="1400" dirty="0"/>
          </a:p>
        </p:txBody>
      </p:sp>
      <p:sp>
        <p:nvSpPr>
          <p:cNvPr id="12" name="OCCUPATION label"/>
          <p:cNvSpPr txBox="1"/>
          <p:nvPr/>
        </p:nvSpPr>
        <p:spPr>
          <a:xfrm>
            <a:off x="548640" y="4846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OCCUPATION</a:t>
            </a:r>
            <a:endParaRPr lang="en-US" sz="1000" dirty="0"/>
          </a:p>
        </p:txBody>
      </p:sp>
      <p:sp>
        <p:nvSpPr>
          <p:cNvPr id="13" name="OCCUPATION value"/>
          <p:cNvSpPr txBox="1"/>
          <p:nvPr/>
        </p:nvSpPr>
        <p:spPr>
          <a:xfrm>
            <a:off x="548640" y="5074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Final-year engineering student</a:t>
            </a:r>
            <a:endParaRPr lang="en-US" sz="1400" dirty="0"/>
          </a:p>
        </p:txBody>
      </p:sp>
      <p:sp>
        <p:nvSpPr>
          <p:cNvPr id="14" name="PLATFORM USE label"/>
          <p:cNvSpPr txBox="1"/>
          <p:nvPr/>
        </p:nvSpPr>
        <p:spPr>
          <a:xfrm>
            <a:off x="548640" y="5623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PLATFORM USE</a:t>
            </a:r>
            <a:endParaRPr lang="en-US" sz="1000" dirty="0"/>
          </a:p>
        </p:txBody>
      </p:sp>
      <p:sp>
        <p:nvSpPr>
          <p:cNvPr id="15" name="PLATFORM USE value"/>
          <p:cNvSpPr txBox="1"/>
          <p:nvPr/>
        </p:nvSpPr>
        <p:spPr>
          <a:xfrm>
            <a:off x="548640" y="5852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Duolingo app and web, Japanese, weekly leagues</a:t>
            </a:r>
            <a:endParaRPr lang="en-US" sz="1400" dirty="0"/>
          </a:p>
        </p:txBody>
      </p:sp>
      <p:sp>
        <p:nvSpPr>
          <p:cNvPr id="16" name="Icon circle"/>
          <p:cNvSpPr/>
          <p:nvPr/>
        </p:nvSpPr>
        <p:spPr>
          <a:xfrm>
            <a:off x="4480560" y="502920"/>
            <a:ext cx="457200" cy="457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Goal icon"/>
          <p:cNvSpPr/>
          <p:nvPr/>
        </p:nvSpPr>
        <p:spPr>
          <a:xfrm>
            <a:off x="4608576" y="630936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Goals heading"/>
          <p:cNvSpPr txBox="1"/>
          <p:nvPr/>
        </p:nvSpPr>
        <p:spPr>
          <a:xfrm>
            <a:off x="5120640" y="502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Goals</a:t>
            </a:r>
            <a:endParaRPr lang="en-US" sz="2000" dirty="0"/>
          </a:p>
        </p:txBody>
      </p:sp>
      <p:sp>
        <p:nvSpPr>
          <p:cNvPr id="19" name="Goals list"/>
          <p:cNvSpPr txBox="1"/>
          <p:nvPr/>
        </p:nvSpPr>
        <p:spPr>
          <a:xfrm>
            <a:off x="4480560" y="123444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daily habit that does not feel like homework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Proof his Japanese is improving, beyond XP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way to use what he knows on a short real text</a:t>
            </a:r>
            <a:endParaRPr lang="en-US" sz="1500" dirty="0"/>
          </a:p>
        </p:txBody>
      </p:sp>
      <p:sp>
        <p:nvSpPr>
          <p:cNvPr id="20" name="Icon circle"/>
          <p:cNvSpPr/>
          <p:nvPr/>
        </p:nvSpPr>
        <p:spPr>
          <a:xfrm>
            <a:off x="8183880" y="502920"/>
            <a:ext cx="457200" cy="457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Frustration icon"/>
          <p:cNvSpPr/>
          <p:nvPr/>
        </p:nvSpPr>
        <p:spPr>
          <a:xfrm>
            <a:off x="8302752" y="640080"/>
            <a:ext cx="219456" cy="192024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2" name="Frustrations heading"/>
          <p:cNvSpPr txBox="1"/>
          <p:nvPr/>
        </p:nvSpPr>
        <p:spPr>
          <a:xfrm>
            <a:off x="8823960" y="502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Frustrations</a:t>
            </a:r>
            <a:endParaRPr lang="en-US" sz="2000" dirty="0"/>
          </a:p>
        </p:txBody>
      </p:sp>
      <p:sp>
        <p:nvSpPr>
          <p:cNvPr id="23" name="Frustrations list"/>
          <p:cNvSpPr txBox="1"/>
          <p:nvPr/>
        </p:nvSpPr>
        <p:spPr>
          <a:xfrm>
            <a:off x="8183880" y="123444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streak counts a one-minute lesson the same as a full hour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League pressure pushes him to farm XP instead of learning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Old units feel optional, so older words fade</a:t>
            </a:r>
            <a:endParaRPr lang="en-US" sz="1500" dirty="0"/>
          </a:p>
        </p:txBody>
      </p:sp>
      <p:sp>
        <p:nvSpPr>
          <p:cNvPr id="24" name="Usage icon"/>
          <p:cNvSpPr/>
          <p:nvPr/>
        </p:nvSpPr>
        <p:spPr>
          <a:xfrm rot="5400000">
            <a:off x="4480560" y="3721608"/>
            <a:ext cx="155448" cy="18288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5" name="Usage heading"/>
          <p:cNvSpPr txBox="1"/>
          <p:nvPr/>
        </p:nvSpPr>
        <p:spPr>
          <a:xfrm>
            <a:off x="480060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this person actually uses the platform</a:t>
            </a:r>
            <a:endParaRPr lang="en-US" sz="1800" dirty="0"/>
          </a:p>
        </p:txBody>
      </p:sp>
      <p:sp>
        <p:nvSpPr>
          <p:cNvPr id="26" name="Usage panel"/>
          <p:cNvSpPr/>
          <p:nvPr/>
        </p:nvSpPr>
        <p:spPr>
          <a:xfrm>
            <a:off x="4480560" y="4206240"/>
            <a:ext cx="71780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27" name="ACTIONS label"/>
          <p:cNvSpPr txBox="1"/>
          <p:nvPr/>
        </p:nvSpPr>
        <p:spPr>
          <a:xfrm>
            <a:off x="4754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ACTIONS</a:t>
            </a:r>
            <a:endParaRPr lang="en-US" sz="1000" dirty="0"/>
          </a:p>
        </p:txBody>
      </p:sp>
      <p:sp>
        <p:nvSpPr>
          <p:cNvPr id="28" name="ACTIONS text"/>
          <p:cNvSpPr txBox="1"/>
          <p:nvPr/>
        </p:nvSpPr>
        <p:spPr>
          <a:xfrm>
            <a:off x="4754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Squeezes in a quick lesson late at night to protect the streak; checks his league rank each morning.</a:t>
            </a:r>
            <a:endParaRPr lang="en-US" sz="1300" dirty="0"/>
          </a:p>
        </p:txBody>
      </p:sp>
      <p:sp>
        <p:nvSpPr>
          <p:cNvPr id="29" name="FEELINGS label"/>
          <p:cNvSpPr txBox="1"/>
          <p:nvPr/>
        </p:nvSpPr>
        <p:spPr>
          <a:xfrm>
            <a:off x="7040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FEELINGS</a:t>
            </a:r>
            <a:endParaRPr lang="en-US" sz="1000" dirty="0"/>
          </a:p>
        </p:txBody>
      </p:sp>
      <p:sp>
        <p:nvSpPr>
          <p:cNvPr id="30" name="FEELINGS text"/>
          <p:cNvSpPr txBox="1"/>
          <p:nvPr/>
        </p:nvSpPr>
        <p:spPr>
          <a:xfrm>
            <a:off x="7040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Anxious near midnight; proud of the number, doubtful about the skill.</a:t>
            </a:r>
            <a:endParaRPr lang="en-US" sz="1300" dirty="0"/>
          </a:p>
        </p:txBody>
      </p:sp>
      <p:sp>
        <p:nvSpPr>
          <p:cNvPr id="31" name="OPPORTUNITY label"/>
          <p:cNvSpPr txBox="1"/>
          <p:nvPr/>
        </p:nvSpPr>
        <p:spPr>
          <a:xfrm>
            <a:off x="9326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OPPORTUNITY</a:t>
            </a:r>
            <a:endParaRPr lang="en-US" sz="1000" dirty="0"/>
          </a:p>
        </p:txBody>
      </p:sp>
      <p:sp>
        <p:nvSpPr>
          <p:cNvPr id="32" name="OPPORTUNITY text"/>
          <p:cNvSpPr txBox="1"/>
          <p:nvPr/>
        </p:nvSpPr>
        <p:spPr>
          <a:xfrm>
            <a:off x="9326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 regular "can you actually do this?" check-up instead of only XP.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vatar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" name="Avatar initials"/>
          <p:cNvSpPr txBox="1"/>
          <p:nvPr/>
        </p:nvSpPr>
        <p:spPr>
          <a:xfrm>
            <a:off x="548640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SK</a:t>
            </a:r>
            <a:endParaRPr lang="en-US" sz="2800" dirty="0"/>
          </a:p>
        </p:txBody>
      </p:sp>
      <p:sp>
        <p:nvSpPr>
          <p:cNvPr id="4" name="Persona name"/>
          <p:cNvSpPr txBox="1"/>
          <p:nvPr/>
        </p:nvSpPr>
        <p:spPr>
          <a:xfrm>
            <a:off x="54864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Sneha Kulkarni</a:t>
            </a:r>
            <a:endParaRPr lang="en-US" sz="2800" dirty="0"/>
          </a:p>
        </p:txBody>
      </p:sp>
      <p:sp>
        <p:nvSpPr>
          <p:cNvPr id="5" name="Persona role"/>
          <p:cNvSpPr txBox="1"/>
          <p:nvPr/>
        </p:nvSpPr>
        <p:spPr>
          <a:xfrm>
            <a:off x="548640" y="22128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Relocating Professional, German Before Berlin</a:t>
            </a:r>
            <a:endParaRPr lang="en-US" sz="1400" dirty="0"/>
          </a:p>
        </p:txBody>
      </p:sp>
      <p:sp>
        <p:nvSpPr>
          <p:cNvPr id="6" name="Quote panel"/>
          <p:cNvSpPr/>
          <p:nvPr/>
        </p:nvSpPr>
        <p:spPr>
          <a:xfrm>
            <a:off x="548640" y="2834640"/>
            <a:ext cx="33832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Quote"/>
          <p:cNvSpPr txBox="1"/>
          <p:nvPr/>
        </p:nvSpPr>
        <p:spPr>
          <a:xfrm>
            <a:off x="777240" y="2926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"I can translate a whole unit, but I'd freeze if someone spoke to me in a shop."</a:t>
            </a:r>
            <a:endParaRPr lang="en-US" sz="1400" dirty="0"/>
          </a:p>
        </p:txBody>
      </p:sp>
      <p:sp>
        <p:nvSpPr>
          <p:cNvPr id="8" name="AGE label"/>
          <p:cNvSpPr txBox="1"/>
          <p:nvPr/>
        </p:nvSpPr>
        <p:spPr>
          <a:xfrm>
            <a:off x="548640" y="4160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AGE</a:t>
            </a:r>
            <a:endParaRPr lang="en-US" sz="1000" dirty="0"/>
          </a:p>
        </p:txBody>
      </p:sp>
      <p:sp>
        <p:nvSpPr>
          <p:cNvPr id="9" name="AGE value"/>
          <p:cNvSpPr txBox="1"/>
          <p:nvPr/>
        </p:nvSpPr>
        <p:spPr>
          <a:xfrm>
            <a:off x="548640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28</a:t>
            </a:r>
            <a:endParaRPr lang="en-US" sz="1400" dirty="0"/>
          </a:p>
        </p:txBody>
      </p:sp>
      <p:sp>
        <p:nvSpPr>
          <p:cNvPr id="10" name="LOCATION label"/>
          <p:cNvSpPr txBox="1"/>
          <p:nvPr/>
        </p:nvSpPr>
        <p:spPr>
          <a:xfrm>
            <a:off x="1737360" y="4160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LOCATION</a:t>
            </a:r>
            <a:endParaRPr lang="en-US" sz="1000" dirty="0"/>
          </a:p>
        </p:txBody>
      </p:sp>
      <p:sp>
        <p:nvSpPr>
          <p:cNvPr id="11" name="LOCATION value"/>
          <p:cNvSpPr txBox="1"/>
          <p:nvPr/>
        </p:nvSpPr>
        <p:spPr>
          <a:xfrm>
            <a:off x="1737360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Pune, India</a:t>
            </a:r>
            <a:endParaRPr lang="en-US" sz="1400" dirty="0"/>
          </a:p>
        </p:txBody>
      </p:sp>
      <p:sp>
        <p:nvSpPr>
          <p:cNvPr id="12" name="OCCUPATION label"/>
          <p:cNvSpPr txBox="1"/>
          <p:nvPr/>
        </p:nvSpPr>
        <p:spPr>
          <a:xfrm>
            <a:off x="548640" y="4846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OCCUPATION</a:t>
            </a:r>
            <a:endParaRPr lang="en-US" sz="1000" dirty="0"/>
          </a:p>
        </p:txBody>
      </p:sp>
      <p:sp>
        <p:nvSpPr>
          <p:cNvPr id="13" name="OCCUPATION value"/>
          <p:cNvSpPr txBox="1"/>
          <p:nvPr/>
        </p:nvSpPr>
        <p:spPr>
          <a:xfrm>
            <a:off x="548640" y="5074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Software engineer, relocating for work in four months</a:t>
            </a:r>
            <a:endParaRPr lang="en-US" sz="1400" dirty="0"/>
          </a:p>
        </p:txBody>
      </p:sp>
      <p:sp>
        <p:nvSpPr>
          <p:cNvPr id="14" name="PLATFORM USE label"/>
          <p:cNvSpPr txBox="1"/>
          <p:nvPr/>
        </p:nvSpPr>
        <p:spPr>
          <a:xfrm>
            <a:off x="548640" y="5623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PLATFORM USE</a:t>
            </a:r>
            <a:endParaRPr lang="en-US" sz="1000" dirty="0"/>
          </a:p>
        </p:txBody>
      </p:sp>
      <p:sp>
        <p:nvSpPr>
          <p:cNvPr id="15" name="PLATFORM USE value"/>
          <p:cNvSpPr txBox="1"/>
          <p:nvPr/>
        </p:nvSpPr>
        <p:spPr>
          <a:xfrm>
            <a:off x="548640" y="5852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Duolingo app and web, German, 25 minutes a day</a:t>
            </a:r>
            <a:endParaRPr lang="en-US" sz="1400" dirty="0"/>
          </a:p>
        </p:txBody>
      </p:sp>
      <p:sp>
        <p:nvSpPr>
          <p:cNvPr id="16" name="Icon circle"/>
          <p:cNvSpPr/>
          <p:nvPr/>
        </p:nvSpPr>
        <p:spPr>
          <a:xfrm>
            <a:off x="4480560" y="502920"/>
            <a:ext cx="457200" cy="457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Goal icon"/>
          <p:cNvSpPr/>
          <p:nvPr/>
        </p:nvSpPr>
        <p:spPr>
          <a:xfrm>
            <a:off x="4608576" y="630936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Goals heading"/>
          <p:cNvSpPr txBox="1"/>
          <p:nvPr/>
        </p:nvSpPr>
        <p:spPr>
          <a:xfrm>
            <a:off x="5120640" y="502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Goals</a:t>
            </a:r>
            <a:endParaRPr lang="en-US" sz="2000" dirty="0"/>
          </a:p>
        </p:txBody>
      </p:sp>
      <p:sp>
        <p:nvSpPr>
          <p:cNvPr id="19" name="Goals list"/>
          <p:cNvSpPr txBox="1"/>
          <p:nvPr/>
        </p:nvSpPr>
        <p:spPr>
          <a:xfrm>
            <a:off x="4480560" y="123444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Practical phrases for renting, shopping and doctors first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Speaking practice she can actually use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clear view of how close she is to a usable level</a:t>
            </a:r>
            <a:endParaRPr lang="en-US" sz="1500" dirty="0"/>
          </a:p>
        </p:txBody>
      </p:sp>
      <p:sp>
        <p:nvSpPr>
          <p:cNvPr id="20" name="Icon circle"/>
          <p:cNvSpPr/>
          <p:nvPr/>
        </p:nvSpPr>
        <p:spPr>
          <a:xfrm>
            <a:off x="8183880" y="502920"/>
            <a:ext cx="457200" cy="457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Frustration icon"/>
          <p:cNvSpPr/>
          <p:nvPr/>
        </p:nvSpPr>
        <p:spPr>
          <a:xfrm>
            <a:off x="8302752" y="640080"/>
            <a:ext cx="219456" cy="192024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2" name="Frustrations heading"/>
          <p:cNvSpPr txBox="1"/>
          <p:nvPr/>
        </p:nvSpPr>
        <p:spPr>
          <a:xfrm>
            <a:off x="8823960" y="502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Frustrations</a:t>
            </a:r>
            <a:endParaRPr lang="en-US" sz="2000" dirty="0"/>
          </a:p>
        </p:txBody>
      </p:sp>
      <p:sp>
        <p:nvSpPr>
          <p:cNvPr id="23" name="Frustrations list"/>
          <p:cNvSpPr txBox="1"/>
          <p:nvPr/>
        </p:nvSpPr>
        <p:spPr>
          <a:xfrm>
            <a:off x="8183880" y="123444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Early units teach animals and colours, not what she needs this month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Speaking exercises are short and easy to skip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way to focus the course around her move</a:t>
            </a:r>
            <a:endParaRPr lang="en-US" sz="1500" dirty="0"/>
          </a:p>
        </p:txBody>
      </p:sp>
      <p:sp>
        <p:nvSpPr>
          <p:cNvPr id="24" name="Usage icon"/>
          <p:cNvSpPr/>
          <p:nvPr/>
        </p:nvSpPr>
        <p:spPr>
          <a:xfrm rot="5400000">
            <a:off x="4480560" y="3721608"/>
            <a:ext cx="155448" cy="18288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5" name="Usage heading"/>
          <p:cNvSpPr txBox="1"/>
          <p:nvPr/>
        </p:nvSpPr>
        <p:spPr>
          <a:xfrm>
            <a:off x="480060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this person actually uses the platform</a:t>
            </a:r>
            <a:endParaRPr lang="en-US" sz="1800" dirty="0"/>
          </a:p>
        </p:txBody>
      </p:sp>
      <p:sp>
        <p:nvSpPr>
          <p:cNvPr id="26" name="Usage panel"/>
          <p:cNvSpPr/>
          <p:nvPr/>
        </p:nvSpPr>
        <p:spPr>
          <a:xfrm>
            <a:off x="4480560" y="4206240"/>
            <a:ext cx="71780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27" name="ACTIONS label"/>
          <p:cNvSpPr txBox="1"/>
          <p:nvPr/>
        </p:nvSpPr>
        <p:spPr>
          <a:xfrm>
            <a:off x="4754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ACTIONS</a:t>
            </a:r>
            <a:endParaRPr lang="en-US" sz="1000" dirty="0"/>
          </a:p>
        </p:txBody>
      </p:sp>
      <p:sp>
        <p:nvSpPr>
          <p:cNvPr id="28" name="ACTIONS text"/>
          <p:cNvSpPr txBox="1"/>
          <p:nvPr/>
        </p:nvSpPr>
        <p:spPr>
          <a:xfrm>
            <a:off x="4754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Practises on her commute, skips speaking exercises around other people, looks up phrases on other sites.</a:t>
            </a:r>
            <a:endParaRPr lang="en-US" sz="1300" dirty="0"/>
          </a:p>
        </p:txBody>
      </p:sp>
      <p:sp>
        <p:nvSpPr>
          <p:cNvPr id="29" name="FEELINGS label"/>
          <p:cNvSpPr txBox="1"/>
          <p:nvPr/>
        </p:nvSpPr>
        <p:spPr>
          <a:xfrm>
            <a:off x="7040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FEELINGS</a:t>
            </a:r>
            <a:endParaRPr lang="en-US" sz="1000" dirty="0"/>
          </a:p>
        </p:txBody>
      </p:sp>
      <p:sp>
        <p:nvSpPr>
          <p:cNvPr id="30" name="FEELINGS text"/>
          <p:cNvSpPr txBox="1"/>
          <p:nvPr/>
        </p:nvSpPr>
        <p:spPr>
          <a:xfrm>
            <a:off x="7040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Pressure from the deadline; worried she is learning the wrong things.</a:t>
            </a:r>
            <a:endParaRPr lang="en-US" sz="1300" dirty="0"/>
          </a:p>
        </p:txBody>
      </p:sp>
      <p:sp>
        <p:nvSpPr>
          <p:cNvPr id="31" name="OPPORTUNITY label"/>
          <p:cNvSpPr txBox="1"/>
          <p:nvPr/>
        </p:nvSpPr>
        <p:spPr>
          <a:xfrm>
            <a:off x="9326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OPPORTUNITY</a:t>
            </a:r>
            <a:endParaRPr lang="en-US" sz="1000" dirty="0"/>
          </a:p>
        </p:txBody>
      </p:sp>
      <p:sp>
        <p:nvSpPr>
          <p:cNvPr id="32" name="OPPORTUNITY text"/>
          <p:cNvSpPr txBox="1"/>
          <p:nvPr/>
        </p:nvSpPr>
        <p:spPr>
          <a:xfrm>
            <a:off x="9326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Goal-based paths such as "moving abroad" built on real-life dialogues.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vatar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" name="Avatar initials"/>
          <p:cNvSpPr txBox="1"/>
          <p:nvPr/>
        </p:nvSpPr>
        <p:spPr>
          <a:xfrm>
            <a:off x="548640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RN</a:t>
            </a:r>
            <a:endParaRPr lang="en-US" sz="2800" dirty="0"/>
          </a:p>
        </p:txBody>
      </p:sp>
      <p:sp>
        <p:nvSpPr>
          <p:cNvPr id="4" name="Persona name"/>
          <p:cNvSpPr txBox="1"/>
          <p:nvPr/>
        </p:nvSpPr>
        <p:spPr>
          <a:xfrm>
            <a:off x="54864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Rahul Nair</a:t>
            </a:r>
            <a:endParaRPr lang="en-US" sz="2800" dirty="0"/>
          </a:p>
        </p:txBody>
      </p:sp>
      <p:sp>
        <p:nvSpPr>
          <p:cNvPr id="5" name="Persona role"/>
          <p:cNvSpPr txBox="1"/>
          <p:nvPr/>
        </p:nvSpPr>
        <p:spPr>
          <a:xfrm>
            <a:off x="548640" y="22128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Free-Plan Student, Learning French on Hearts</a:t>
            </a:r>
            <a:endParaRPr lang="en-US" sz="1400" dirty="0"/>
          </a:p>
        </p:txBody>
      </p:sp>
      <p:sp>
        <p:nvSpPr>
          <p:cNvPr id="6" name="Quote panel"/>
          <p:cNvSpPr/>
          <p:nvPr/>
        </p:nvSpPr>
        <p:spPr>
          <a:xfrm>
            <a:off x="548640" y="2834640"/>
            <a:ext cx="33832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Quote"/>
          <p:cNvSpPr txBox="1"/>
          <p:nvPr/>
        </p:nvSpPr>
        <p:spPr>
          <a:xfrm>
            <a:off x="777240" y="2926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"The harder the unit gets, the sooner the app tells me to stop."</a:t>
            </a:r>
            <a:endParaRPr lang="en-US" sz="1400" dirty="0"/>
          </a:p>
        </p:txBody>
      </p:sp>
      <p:sp>
        <p:nvSpPr>
          <p:cNvPr id="8" name="AGE label"/>
          <p:cNvSpPr txBox="1"/>
          <p:nvPr/>
        </p:nvSpPr>
        <p:spPr>
          <a:xfrm>
            <a:off x="548640" y="4160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AGE</a:t>
            </a:r>
            <a:endParaRPr lang="en-US" sz="1000" dirty="0"/>
          </a:p>
        </p:txBody>
      </p:sp>
      <p:sp>
        <p:nvSpPr>
          <p:cNvPr id="9" name="AGE value"/>
          <p:cNvSpPr txBox="1"/>
          <p:nvPr/>
        </p:nvSpPr>
        <p:spPr>
          <a:xfrm>
            <a:off x="548640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20</a:t>
            </a:r>
            <a:endParaRPr lang="en-US" sz="1400" dirty="0"/>
          </a:p>
        </p:txBody>
      </p:sp>
      <p:sp>
        <p:nvSpPr>
          <p:cNvPr id="10" name="LOCATION label"/>
          <p:cNvSpPr txBox="1"/>
          <p:nvPr/>
        </p:nvSpPr>
        <p:spPr>
          <a:xfrm>
            <a:off x="1737360" y="4160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LOCATION</a:t>
            </a:r>
            <a:endParaRPr lang="en-US" sz="1000" dirty="0"/>
          </a:p>
        </p:txBody>
      </p:sp>
      <p:sp>
        <p:nvSpPr>
          <p:cNvPr id="11" name="LOCATION value"/>
          <p:cNvSpPr txBox="1"/>
          <p:nvPr/>
        </p:nvSpPr>
        <p:spPr>
          <a:xfrm>
            <a:off x="1737360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Kochi, India</a:t>
            </a:r>
            <a:endParaRPr lang="en-US" sz="1400" dirty="0"/>
          </a:p>
        </p:txBody>
      </p:sp>
      <p:sp>
        <p:nvSpPr>
          <p:cNvPr id="12" name="OCCUPATION label"/>
          <p:cNvSpPr txBox="1"/>
          <p:nvPr/>
        </p:nvSpPr>
        <p:spPr>
          <a:xfrm>
            <a:off x="548640" y="4846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OCCUPATION</a:t>
            </a:r>
            <a:endParaRPr lang="en-US" sz="1000" dirty="0"/>
          </a:p>
        </p:txBody>
      </p:sp>
      <p:sp>
        <p:nvSpPr>
          <p:cNvPr id="13" name="OCCUPATION value"/>
          <p:cNvSpPr txBox="1"/>
          <p:nvPr/>
        </p:nvSpPr>
        <p:spPr>
          <a:xfrm>
            <a:off x="548640" y="5074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2nd-year BSc student on a tight budget</a:t>
            </a:r>
            <a:endParaRPr lang="en-US" sz="1400" dirty="0"/>
          </a:p>
        </p:txBody>
      </p:sp>
      <p:sp>
        <p:nvSpPr>
          <p:cNvPr id="14" name="PLATFORM USE label"/>
          <p:cNvSpPr txBox="1"/>
          <p:nvPr/>
        </p:nvSpPr>
        <p:spPr>
          <a:xfrm>
            <a:off x="548640" y="5623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PLATFORM USE</a:t>
            </a:r>
            <a:endParaRPr lang="en-US" sz="1000" dirty="0"/>
          </a:p>
        </p:txBody>
      </p:sp>
      <p:sp>
        <p:nvSpPr>
          <p:cNvPr id="15" name="PLATFORM USE value"/>
          <p:cNvSpPr txBox="1"/>
          <p:nvPr/>
        </p:nvSpPr>
        <p:spPr>
          <a:xfrm>
            <a:off x="548640" y="5852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Duolingo web, free plan, French, evenings</a:t>
            </a:r>
            <a:endParaRPr lang="en-US" sz="1400" dirty="0"/>
          </a:p>
        </p:txBody>
      </p:sp>
      <p:sp>
        <p:nvSpPr>
          <p:cNvPr id="16" name="Icon circle"/>
          <p:cNvSpPr/>
          <p:nvPr/>
        </p:nvSpPr>
        <p:spPr>
          <a:xfrm>
            <a:off x="4480560" y="502920"/>
            <a:ext cx="457200" cy="457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Goal icon"/>
          <p:cNvSpPr/>
          <p:nvPr/>
        </p:nvSpPr>
        <p:spPr>
          <a:xfrm>
            <a:off x="4608576" y="630936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Goals heading"/>
          <p:cNvSpPr txBox="1"/>
          <p:nvPr/>
        </p:nvSpPr>
        <p:spPr>
          <a:xfrm>
            <a:off x="5120640" y="502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Goals</a:t>
            </a:r>
            <a:endParaRPr lang="en-US" sz="2000" dirty="0"/>
          </a:p>
        </p:txBody>
      </p:sp>
      <p:sp>
        <p:nvSpPr>
          <p:cNvPr id="19" name="Goals list"/>
          <p:cNvSpPr txBox="1"/>
          <p:nvPr/>
        </p:nvSpPr>
        <p:spPr>
          <a:xfrm>
            <a:off x="4480560" y="123444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Finish lessons without being cut off halfway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Practise his mistakes instead of being punished for them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Know exactly what paying would change before he decides</a:t>
            </a:r>
            <a:endParaRPr lang="en-US" sz="1500" dirty="0"/>
          </a:p>
        </p:txBody>
      </p:sp>
      <p:sp>
        <p:nvSpPr>
          <p:cNvPr id="20" name="Icon circle"/>
          <p:cNvSpPr/>
          <p:nvPr/>
        </p:nvSpPr>
        <p:spPr>
          <a:xfrm>
            <a:off x="8183880" y="502920"/>
            <a:ext cx="457200" cy="457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Frustration icon"/>
          <p:cNvSpPr/>
          <p:nvPr/>
        </p:nvSpPr>
        <p:spPr>
          <a:xfrm>
            <a:off x="8302752" y="640080"/>
            <a:ext cx="219456" cy="192024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2" name="Frustrations heading"/>
          <p:cNvSpPr txBox="1"/>
          <p:nvPr/>
        </p:nvSpPr>
        <p:spPr>
          <a:xfrm>
            <a:off x="8823960" y="502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Frustrations</a:t>
            </a:r>
            <a:endParaRPr lang="en-US" sz="2000" dirty="0"/>
          </a:p>
        </p:txBody>
      </p:sp>
      <p:sp>
        <p:nvSpPr>
          <p:cNvPr id="23" name="Frustrations list"/>
          <p:cNvSpPr txBox="1"/>
          <p:nvPr/>
        </p:nvSpPr>
        <p:spPr>
          <a:xfrm>
            <a:off x="8183880" y="123444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Hearts run out in the middle of a hard unit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Super offers and ads appear between lessons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Earning hearts back means waiting or redoing easy practice</a:t>
            </a:r>
            <a:endParaRPr lang="en-US" sz="1500" dirty="0"/>
          </a:p>
        </p:txBody>
      </p:sp>
      <p:sp>
        <p:nvSpPr>
          <p:cNvPr id="24" name="Usage icon"/>
          <p:cNvSpPr/>
          <p:nvPr/>
        </p:nvSpPr>
        <p:spPr>
          <a:xfrm rot="5400000">
            <a:off x="4480560" y="3721608"/>
            <a:ext cx="155448" cy="18288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5" name="Usage heading"/>
          <p:cNvSpPr txBox="1"/>
          <p:nvPr/>
        </p:nvSpPr>
        <p:spPr>
          <a:xfrm>
            <a:off x="480060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this person actually uses the platform</a:t>
            </a:r>
            <a:endParaRPr lang="en-US" sz="1800" dirty="0"/>
          </a:p>
        </p:txBody>
      </p:sp>
      <p:sp>
        <p:nvSpPr>
          <p:cNvPr id="26" name="Usage panel"/>
          <p:cNvSpPr/>
          <p:nvPr/>
        </p:nvSpPr>
        <p:spPr>
          <a:xfrm>
            <a:off x="4480560" y="4206240"/>
            <a:ext cx="71780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27" name="ACTIONS label"/>
          <p:cNvSpPr txBox="1"/>
          <p:nvPr/>
        </p:nvSpPr>
        <p:spPr>
          <a:xfrm>
            <a:off x="4754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ACTIONS</a:t>
            </a:r>
            <a:endParaRPr lang="en-US" sz="1000" dirty="0"/>
          </a:p>
        </p:txBody>
      </p:sp>
      <p:sp>
        <p:nvSpPr>
          <p:cNvPr id="28" name="ACTIONS text"/>
          <p:cNvSpPr txBox="1"/>
          <p:nvPr/>
        </p:nvSpPr>
        <p:spPr>
          <a:xfrm>
            <a:off x="4754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Starts a lesson, runs out of hearts, waits or watches an ad, and often comes back the next day.</a:t>
            </a:r>
            <a:endParaRPr lang="en-US" sz="1300" dirty="0"/>
          </a:p>
        </p:txBody>
      </p:sp>
      <p:sp>
        <p:nvSpPr>
          <p:cNvPr id="29" name="FEELINGS label"/>
          <p:cNvSpPr txBox="1"/>
          <p:nvPr/>
        </p:nvSpPr>
        <p:spPr>
          <a:xfrm>
            <a:off x="7040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FEELINGS</a:t>
            </a:r>
            <a:endParaRPr lang="en-US" sz="1000" dirty="0"/>
          </a:p>
        </p:txBody>
      </p:sp>
      <p:sp>
        <p:nvSpPr>
          <p:cNvPr id="30" name="FEELINGS text"/>
          <p:cNvSpPr txBox="1"/>
          <p:nvPr/>
        </p:nvSpPr>
        <p:spPr>
          <a:xfrm>
            <a:off x="7040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Motivated at first; annoyed when blocked mid-lesson.</a:t>
            </a:r>
            <a:endParaRPr lang="en-US" sz="1300" dirty="0"/>
          </a:p>
        </p:txBody>
      </p:sp>
      <p:sp>
        <p:nvSpPr>
          <p:cNvPr id="31" name="OPPORTUNITY label"/>
          <p:cNvSpPr txBox="1"/>
          <p:nvPr/>
        </p:nvSpPr>
        <p:spPr>
          <a:xfrm>
            <a:off x="9326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OPPORTUNITY</a:t>
            </a:r>
            <a:endParaRPr lang="en-US" sz="1000" dirty="0"/>
          </a:p>
        </p:txBody>
      </p:sp>
      <p:sp>
        <p:nvSpPr>
          <p:cNvPr id="32" name="OPPORTUNITY text"/>
          <p:cNvSpPr txBox="1"/>
          <p:nvPr/>
        </p:nvSpPr>
        <p:spPr>
          <a:xfrm>
            <a:off x="9326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Let him practise the exact mistakes to keep going, not just wait.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vatar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" name="Avatar initials"/>
          <p:cNvSpPr txBox="1"/>
          <p:nvPr/>
        </p:nvSpPr>
        <p:spPr>
          <a:xfrm>
            <a:off x="548640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MD</a:t>
            </a:r>
            <a:endParaRPr lang="en-US" sz="2800" dirty="0"/>
          </a:p>
        </p:txBody>
      </p:sp>
      <p:sp>
        <p:nvSpPr>
          <p:cNvPr id="4" name="Persona name"/>
          <p:cNvSpPr txBox="1"/>
          <p:nvPr/>
        </p:nvSpPr>
        <p:spPr>
          <a:xfrm>
            <a:off x="54864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Meera Desai</a:t>
            </a:r>
            <a:endParaRPr lang="en-US" sz="2800" dirty="0"/>
          </a:p>
        </p:txBody>
      </p:sp>
      <p:sp>
        <p:nvSpPr>
          <p:cNvPr id="5" name="Persona role"/>
          <p:cNvSpPr txBox="1"/>
          <p:nvPr/>
        </p:nvSpPr>
        <p:spPr>
          <a:xfrm>
            <a:off x="548640" y="22128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Returning Learner, Reviving School French</a:t>
            </a:r>
            <a:endParaRPr lang="en-US" sz="1400" dirty="0"/>
          </a:p>
        </p:txBody>
      </p:sp>
      <p:sp>
        <p:nvSpPr>
          <p:cNvPr id="6" name="Quote panel"/>
          <p:cNvSpPr/>
          <p:nvPr/>
        </p:nvSpPr>
        <p:spPr>
          <a:xfrm>
            <a:off x="548640" y="2834640"/>
            <a:ext cx="33832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Quote"/>
          <p:cNvSpPr txBox="1"/>
          <p:nvPr/>
        </p:nvSpPr>
        <p:spPr>
          <a:xfrm>
            <a:off x="777240" y="2926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"I took two weeks off and the app made me feel like I had failed."</a:t>
            </a:r>
            <a:endParaRPr lang="en-US" sz="1400" dirty="0"/>
          </a:p>
        </p:txBody>
      </p:sp>
      <p:sp>
        <p:nvSpPr>
          <p:cNvPr id="8" name="AGE label"/>
          <p:cNvSpPr txBox="1"/>
          <p:nvPr/>
        </p:nvSpPr>
        <p:spPr>
          <a:xfrm>
            <a:off x="548640" y="4160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AGE</a:t>
            </a:r>
            <a:endParaRPr lang="en-US" sz="1000" dirty="0"/>
          </a:p>
        </p:txBody>
      </p:sp>
      <p:sp>
        <p:nvSpPr>
          <p:cNvPr id="9" name="AGE value"/>
          <p:cNvSpPr txBox="1"/>
          <p:nvPr/>
        </p:nvSpPr>
        <p:spPr>
          <a:xfrm>
            <a:off x="548640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34</a:t>
            </a:r>
            <a:endParaRPr lang="en-US" sz="1400" dirty="0"/>
          </a:p>
        </p:txBody>
      </p:sp>
      <p:sp>
        <p:nvSpPr>
          <p:cNvPr id="10" name="LOCATION label"/>
          <p:cNvSpPr txBox="1"/>
          <p:nvPr/>
        </p:nvSpPr>
        <p:spPr>
          <a:xfrm>
            <a:off x="1737360" y="4160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LOCATION</a:t>
            </a:r>
            <a:endParaRPr lang="en-US" sz="1000" dirty="0"/>
          </a:p>
        </p:txBody>
      </p:sp>
      <p:sp>
        <p:nvSpPr>
          <p:cNvPr id="11" name="LOCATION value"/>
          <p:cNvSpPr txBox="1"/>
          <p:nvPr/>
        </p:nvSpPr>
        <p:spPr>
          <a:xfrm>
            <a:off x="1737360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Ahmedabad, India</a:t>
            </a:r>
            <a:endParaRPr lang="en-US" sz="1400" dirty="0"/>
          </a:p>
        </p:txBody>
      </p:sp>
      <p:sp>
        <p:nvSpPr>
          <p:cNvPr id="12" name="OCCUPATION label"/>
          <p:cNvSpPr txBox="1"/>
          <p:nvPr/>
        </p:nvSpPr>
        <p:spPr>
          <a:xfrm>
            <a:off x="548640" y="4846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OCCUPATION</a:t>
            </a:r>
            <a:endParaRPr lang="en-US" sz="1000" dirty="0"/>
          </a:p>
        </p:txBody>
      </p:sp>
      <p:sp>
        <p:nvSpPr>
          <p:cNvPr id="13" name="OCCUPATION value"/>
          <p:cNvSpPr txBox="1"/>
          <p:nvPr/>
        </p:nvSpPr>
        <p:spPr>
          <a:xfrm>
            <a:off x="548640" y="5074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Primary school teacher, planning a family trip to France</a:t>
            </a:r>
            <a:endParaRPr lang="en-US" sz="1400" dirty="0"/>
          </a:p>
        </p:txBody>
      </p:sp>
      <p:sp>
        <p:nvSpPr>
          <p:cNvPr id="14" name="PLATFORM USE label"/>
          <p:cNvSpPr txBox="1"/>
          <p:nvPr/>
        </p:nvSpPr>
        <p:spPr>
          <a:xfrm>
            <a:off x="548640" y="5623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PLATFORM USE</a:t>
            </a:r>
            <a:endParaRPr lang="en-US" sz="1000" dirty="0"/>
          </a:p>
        </p:txBody>
      </p:sp>
      <p:sp>
        <p:nvSpPr>
          <p:cNvPr id="15" name="PLATFORM USE value"/>
          <p:cNvSpPr txBox="1"/>
          <p:nvPr/>
        </p:nvSpPr>
        <p:spPr>
          <a:xfrm>
            <a:off x="548640" y="5852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Duolingo app and web, French, restarting after a break</a:t>
            </a:r>
            <a:endParaRPr lang="en-US" sz="1400" dirty="0"/>
          </a:p>
        </p:txBody>
      </p:sp>
      <p:sp>
        <p:nvSpPr>
          <p:cNvPr id="16" name="Icon circle"/>
          <p:cNvSpPr/>
          <p:nvPr/>
        </p:nvSpPr>
        <p:spPr>
          <a:xfrm>
            <a:off x="4480560" y="502920"/>
            <a:ext cx="457200" cy="457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Goal icon"/>
          <p:cNvSpPr/>
          <p:nvPr/>
        </p:nvSpPr>
        <p:spPr>
          <a:xfrm>
            <a:off x="4608576" y="630936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Goals heading"/>
          <p:cNvSpPr txBox="1"/>
          <p:nvPr/>
        </p:nvSpPr>
        <p:spPr>
          <a:xfrm>
            <a:off x="5120640" y="502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Goals</a:t>
            </a:r>
            <a:endParaRPr lang="en-US" sz="2000" dirty="0"/>
          </a:p>
        </p:txBody>
      </p:sp>
      <p:sp>
        <p:nvSpPr>
          <p:cNvPr id="19" name="Goals list"/>
          <p:cNvSpPr txBox="1"/>
          <p:nvPr/>
        </p:nvSpPr>
        <p:spPr>
          <a:xfrm>
            <a:off x="4480560" y="123444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Start at her real level, not from zero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gentle restart that does not make her feel guilty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quick recap of old topics before new ones</a:t>
            </a:r>
            <a:endParaRPr lang="en-US" sz="1500" dirty="0"/>
          </a:p>
        </p:txBody>
      </p:sp>
      <p:sp>
        <p:nvSpPr>
          <p:cNvPr id="20" name="Icon circle"/>
          <p:cNvSpPr/>
          <p:nvPr/>
        </p:nvSpPr>
        <p:spPr>
          <a:xfrm>
            <a:off x="8183880" y="502920"/>
            <a:ext cx="457200" cy="457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Frustration icon"/>
          <p:cNvSpPr/>
          <p:nvPr/>
        </p:nvSpPr>
        <p:spPr>
          <a:xfrm>
            <a:off x="8302752" y="640080"/>
            <a:ext cx="219456" cy="192024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2" name="Frustrations heading"/>
          <p:cNvSpPr txBox="1"/>
          <p:nvPr/>
        </p:nvSpPr>
        <p:spPr>
          <a:xfrm>
            <a:off x="8823960" y="502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Frustrations</a:t>
            </a:r>
            <a:endParaRPr lang="en-US" sz="2000" dirty="0"/>
          </a:p>
        </p:txBody>
      </p:sp>
      <p:sp>
        <p:nvSpPr>
          <p:cNvPr id="23" name="Frustrations list"/>
          <p:cNvSpPr txBox="1"/>
          <p:nvPr/>
        </p:nvSpPr>
        <p:spPr>
          <a:xfrm>
            <a:off x="8183880" y="123444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broken streak drops to zero and feels like lost months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Reminders feel like guilt-trips after a break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Skipping ahead is possible, but easy to miss</a:t>
            </a:r>
            <a:endParaRPr lang="en-US" sz="1500" dirty="0"/>
          </a:p>
        </p:txBody>
      </p:sp>
      <p:sp>
        <p:nvSpPr>
          <p:cNvPr id="24" name="Usage icon"/>
          <p:cNvSpPr/>
          <p:nvPr/>
        </p:nvSpPr>
        <p:spPr>
          <a:xfrm rot="5400000">
            <a:off x="4480560" y="3721608"/>
            <a:ext cx="155448" cy="18288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5" name="Usage heading"/>
          <p:cNvSpPr txBox="1"/>
          <p:nvPr/>
        </p:nvSpPr>
        <p:spPr>
          <a:xfrm>
            <a:off x="480060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this person actually uses the platform</a:t>
            </a:r>
            <a:endParaRPr lang="en-US" sz="1800" dirty="0"/>
          </a:p>
        </p:txBody>
      </p:sp>
      <p:sp>
        <p:nvSpPr>
          <p:cNvPr id="26" name="Usage panel"/>
          <p:cNvSpPr/>
          <p:nvPr/>
        </p:nvSpPr>
        <p:spPr>
          <a:xfrm>
            <a:off x="4480560" y="4206240"/>
            <a:ext cx="71780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27" name="ACTIONS label"/>
          <p:cNvSpPr txBox="1"/>
          <p:nvPr/>
        </p:nvSpPr>
        <p:spPr>
          <a:xfrm>
            <a:off x="4754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ACTIONS</a:t>
            </a:r>
            <a:endParaRPr lang="en-US" sz="1000" dirty="0"/>
          </a:p>
        </p:txBody>
      </p:sp>
      <p:sp>
        <p:nvSpPr>
          <p:cNvPr id="28" name="ACTIONS text"/>
          <p:cNvSpPr txBox="1"/>
          <p:nvPr/>
        </p:nvSpPr>
        <p:spPr>
          <a:xfrm>
            <a:off x="4754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Opens the app after weeks away, looks at the empty streak, and hesitates before starting a lesson.</a:t>
            </a:r>
            <a:endParaRPr lang="en-US" sz="1300" dirty="0"/>
          </a:p>
        </p:txBody>
      </p:sp>
      <p:sp>
        <p:nvSpPr>
          <p:cNvPr id="29" name="FEELINGS label"/>
          <p:cNvSpPr txBox="1"/>
          <p:nvPr/>
        </p:nvSpPr>
        <p:spPr>
          <a:xfrm>
            <a:off x="7040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FEELINGS</a:t>
            </a:r>
            <a:endParaRPr lang="en-US" sz="1000" dirty="0"/>
          </a:p>
        </p:txBody>
      </p:sp>
      <p:sp>
        <p:nvSpPr>
          <p:cNvPr id="30" name="FEELINGS text"/>
          <p:cNvSpPr txBox="1"/>
          <p:nvPr/>
        </p:nvSpPr>
        <p:spPr>
          <a:xfrm>
            <a:off x="7040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Guilty about the break; relieved when the first lesson feels easy.</a:t>
            </a:r>
            <a:endParaRPr lang="en-US" sz="1300" dirty="0"/>
          </a:p>
        </p:txBody>
      </p:sp>
      <p:sp>
        <p:nvSpPr>
          <p:cNvPr id="31" name="OPPORTUNITY label"/>
          <p:cNvSpPr txBox="1"/>
          <p:nvPr/>
        </p:nvSpPr>
        <p:spPr>
          <a:xfrm>
            <a:off x="932688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OPPORTUNITY</a:t>
            </a:r>
            <a:endParaRPr lang="en-US" sz="1000" dirty="0"/>
          </a:p>
        </p:txBody>
      </p:sp>
      <p:sp>
        <p:nvSpPr>
          <p:cNvPr id="32" name="OPPORTUNITY text"/>
          <p:cNvSpPr txBox="1"/>
          <p:nvPr/>
        </p:nvSpPr>
        <p:spPr>
          <a:xfrm>
            <a:off x="9326880" y="4754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 "welcome back" quick check that sets her level and shows what she remembers.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een dot"/>
          <p:cNvSpPr/>
          <p:nvPr/>
        </p:nvSpPr>
        <p:spPr>
          <a:xfrm>
            <a:off x="5870448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8803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User Journey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7490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Domain: Language Learning  ·  Duolingo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tx2"/>
                </a:solidFill>
              </a:rPr>
              <a:t>USER JOURNEY MAP</a:t>
            </a:r>
            <a:endParaRPr lang="en-US" sz="1100" dirty="0"/>
          </a:p>
        </p:txBody>
      </p:sp>
      <p:sp>
        <p:nvSpPr>
          <p:cNvPr id="3" name="Persona heading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2"/>
                </a:solidFill>
              </a:rPr>
              <a:t>Persona: </a:t>
            </a:r>
            <a:r>
              <a:rPr lang="en-US" sz="3000" b="1" dirty="0">
                <a:solidFill>
                  <a:schemeClr val="tx1"/>
                </a:solidFill>
              </a:rPr>
              <a:t>Neha Joshi</a:t>
            </a:r>
            <a:endParaRPr lang="en-US" sz="3000" dirty="0"/>
          </a:p>
        </p:txBody>
      </p:sp>
      <p:sp>
        <p:nvSpPr>
          <p:cNvPr id="4" name="Persona role"/>
          <p:cNvSpPr txBox="1"/>
          <p:nvPr/>
        </p:nvSpPr>
        <p:spPr>
          <a:xfrm>
            <a:off x="54864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Complete Beginner, First Steps in Spanish</a:t>
            </a:r>
            <a:endParaRPr lang="en-US" sz="1400" dirty="0"/>
          </a:p>
        </p:txBody>
      </p:sp>
      <p:sp>
        <p:nvSpPr>
          <p:cNvPr id="5" name="Avatar"/>
          <p:cNvSpPr/>
          <p:nvPr/>
        </p:nvSpPr>
        <p:spPr>
          <a:xfrm>
            <a:off x="10908792" y="457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vatar initials"/>
          <p:cNvSpPr txBox="1"/>
          <p:nvPr/>
        </p:nvSpPr>
        <p:spPr>
          <a:xfrm>
            <a:off x="10908792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NJ</a:t>
            </a:r>
            <a:endParaRPr lang="en-US" sz="1800" dirty="0"/>
          </a:p>
        </p:txBody>
      </p:sp>
      <p:graphicFrame>
        <p:nvGraphicFramePr>
          <p:cNvPr id="12" name="Journe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0" cy="42519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ACTION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Picks a Course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Takes the First Lesson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Gets an Answer Wrong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Finishes Her First Unit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Returns the Next Day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TASK LIST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Picks Spanish from the course list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Sets a daily goal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Chooses to start from the beginning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Taps words from a word bank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Hears the audio for the first time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Guesses what new words mean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Sees the red banner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Reads the correct answer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Can't tell why hers was wrong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Sees her XP and a streak of 1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Gets a short celebration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Unlocks the next unit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Opens the site after dinner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Sees the streak reminder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Starts the next lesson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FEELING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Excited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Curious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Confused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Proud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Motivated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IMPROVEMENT OPPORTUNITY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Preview what she will be able to say after week one.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Introduce each new word with audio and a picture before testing it.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A one-line reason beside the correct answer.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A recap of the new words she can now use.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Start with a quick review of yesterday's mistakes.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tx2"/>
                </a:solidFill>
              </a:rPr>
              <a:t>USER JOURNEY MAP</a:t>
            </a:r>
            <a:endParaRPr lang="en-US" sz="1100" dirty="0"/>
          </a:p>
        </p:txBody>
      </p:sp>
      <p:sp>
        <p:nvSpPr>
          <p:cNvPr id="3" name="Persona heading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2"/>
                </a:solidFill>
              </a:rPr>
              <a:t>Persona: </a:t>
            </a:r>
            <a:r>
              <a:rPr lang="en-US" sz="3000" b="1" dirty="0">
                <a:solidFill>
                  <a:schemeClr val="tx1"/>
                </a:solidFill>
              </a:rPr>
              <a:t>Karan Malhotra</a:t>
            </a:r>
            <a:endParaRPr lang="en-US" sz="3000" dirty="0"/>
          </a:p>
        </p:txBody>
      </p:sp>
      <p:sp>
        <p:nvSpPr>
          <p:cNvPr id="4" name="Persona role"/>
          <p:cNvSpPr txBox="1"/>
          <p:nvPr/>
        </p:nvSpPr>
        <p:spPr>
          <a:xfrm>
            <a:off x="54864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Streak Chaser, Daily Habit Learner of Japanese</a:t>
            </a:r>
            <a:endParaRPr lang="en-US" sz="1400" dirty="0"/>
          </a:p>
        </p:txBody>
      </p:sp>
      <p:sp>
        <p:nvSpPr>
          <p:cNvPr id="5" name="Avatar"/>
          <p:cNvSpPr/>
          <p:nvPr/>
        </p:nvSpPr>
        <p:spPr>
          <a:xfrm>
            <a:off x="10908792" y="457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vatar initials"/>
          <p:cNvSpPr txBox="1"/>
          <p:nvPr/>
        </p:nvSpPr>
        <p:spPr>
          <a:xfrm>
            <a:off x="10908792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KM</a:t>
            </a:r>
            <a:endParaRPr lang="en-US" sz="1800" dirty="0"/>
          </a:p>
        </p:txBody>
      </p:sp>
      <p:graphicFrame>
        <p:nvGraphicFramePr>
          <p:cNvPr id="13" name="Journe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0" cy="4257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ACTION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Remembers His Streak at 11 PM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Races Through a Lesson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Checks His League Rank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Tries Real Japanese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Questions His Progress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TASK LIST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Sees the streak reminder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Opens a lesson on his phone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Picks the shortest one available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Taps through easy questions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Repeats words he already knows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Finishes in under two minutes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Sees his weekly position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Notices he is 30 XP behind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Plans an extra lesson to catch up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Opens a Japanese menu online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Recognizes only a few characters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Gives up after a minute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Looks at his 200-day streak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Wonders what it really shows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Tests himself on another site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FEELING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Anxious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Rushed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Competitive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Disappointed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Doubtful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IMPROVEMENT OPPORTUNITY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Tie the streak to a small learning goal, not just opening a lesson.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Pick questions from words he is actually forgetting.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Rank by progress made, not only XP earned.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Short real-world reading exercises inside the course.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A periodic check-up showing what he can really do.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tx2"/>
                </a:solidFill>
              </a:rPr>
              <a:t>USER JOURNEY MAP</a:t>
            </a:r>
            <a:endParaRPr lang="en-US" sz="1100" dirty="0"/>
          </a:p>
        </p:txBody>
      </p:sp>
      <p:sp>
        <p:nvSpPr>
          <p:cNvPr id="3" name="Persona heading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2"/>
                </a:solidFill>
              </a:rPr>
              <a:t>Persona: </a:t>
            </a:r>
            <a:r>
              <a:rPr lang="en-US" sz="3000" b="1" dirty="0">
                <a:solidFill>
                  <a:schemeClr val="tx1"/>
                </a:solidFill>
              </a:rPr>
              <a:t>Sneha Kulkarni</a:t>
            </a:r>
            <a:endParaRPr lang="en-US" sz="3000" dirty="0"/>
          </a:p>
        </p:txBody>
      </p:sp>
      <p:sp>
        <p:nvSpPr>
          <p:cNvPr id="4" name="Persona role"/>
          <p:cNvSpPr txBox="1"/>
          <p:nvPr/>
        </p:nvSpPr>
        <p:spPr>
          <a:xfrm>
            <a:off x="54864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Relocating Professional, German Before Berlin</a:t>
            </a:r>
            <a:endParaRPr lang="en-US" sz="1400" dirty="0"/>
          </a:p>
        </p:txBody>
      </p:sp>
      <p:sp>
        <p:nvSpPr>
          <p:cNvPr id="5" name="Avatar"/>
          <p:cNvSpPr/>
          <p:nvPr/>
        </p:nvSpPr>
        <p:spPr>
          <a:xfrm>
            <a:off x="10908792" y="457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vatar initials"/>
          <p:cNvSpPr txBox="1"/>
          <p:nvPr/>
        </p:nvSpPr>
        <p:spPr>
          <a:xfrm>
            <a:off x="10908792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SK</a:t>
            </a:r>
            <a:endParaRPr lang="en-US" sz="1800" dirty="0"/>
          </a:p>
        </p:txBody>
      </p:sp>
      <p:graphicFrame>
        <p:nvGraphicFramePr>
          <p:cNvPr id="14" name="Journe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0" cy="42519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ACTION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Sets Her Goal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Learns Basic Phrases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Tries Speaking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Needs a Real Phrase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Reviews Her Progress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TASK LIST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Picks German as the course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Chooses "for work" as her reason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Sets a 25-minute daily goal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Works through Unit 1 on her commute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Learns words for animals and colours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Wonders when useful phrases begin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Gets a speaking exercise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Taps "Can't speak now" on the train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Misses the pronunciation practice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Needs to ask about a flat in German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Searches the phrase on another site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Copies it into her notes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Checks how many units are left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Counts the months to her move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Wonders if she will be ready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FEELING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Motivated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Impatient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Self-conscious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Frustrated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Worried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IMPROVEMENT OPPORTUNITY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Use her reason to shape a path around her move.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Teach everyday phrases earlier in the course.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A quiet alternative, plus speaking practice she can do later.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A phrasebook mode for real-life situations.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Show an estimate of her level and what is left to reach it.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tx2"/>
                </a:solidFill>
              </a:rPr>
              <a:t>USER JOURNEY MAP</a:t>
            </a:r>
            <a:endParaRPr lang="en-US" sz="1100" dirty="0"/>
          </a:p>
        </p:txBody>
      </p:sp>
      <p:sp>
        <p:nvSpPr>
          <p:cNvPr id="3" name="Persona heading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2"/>
                </a:solidFill>
              </a:rPr>
              <a:t>Persona: </a:t>
            </a:r>
            <a:r>
              <a:rPr lang="en-US" sz="3000" b="1" dirty="0">
                <a:solidFill>
                  <a:schemeClr val="tx1"/>
                </a:solidFill>
              </a:rPr>
              <a:t>Rahul Nair</a:t>
            </a:r>
            <a:endParaRPr lang="en-US" sz="3000" dirty="0"/>
          </a:p>
        </p:txBody>
      </p:sp>
      <p:sp>
        <p:nvSpPr>
          <p:cNvPr id="4" name="Persona role"/>
          <p:cNvSpPr txBox="1"/>
          <p:nvPr/>
        </p:nvSpPr>
        <p:spPr>
          <a:xfrm>
            <a:off x="54864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Free-Plan Student, Learning French on Hearts</a:t>
            </a:r>
            <a:endParaRPr lang="en-US" sz="1400" dirty="0"/>
          </a:p>
        </p:txBody>
      </p:sp>
      <p:sp>
        <p:nvSpPr>
          <p:cNvPr id="5" name="Avatar"/>
          <p:cNvSpPr/>
          <p:nvPr/>
        </p:nvSpPr>
        <p:spPr>
          <a:xfrm>
            <a:off x="10908792" y="457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vatar initials"/>
          <p:cNvSpPr txBox="1"/>
          <p:nvPr/>
        </p:nvSpPr>
        <p:spPr>
          <a:xfrm>
            <a:off x="10908792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RN</a:t>
            </a:r>
            <a:endParaRPr lang="en-US" sz="1800" dirty="0"/>
          </a:p>
        </p:txBody>
      </p:sp>
      <p:graphicFrame>
        <p:nvGraphicFramePr>
          <p:cNvPr id="15" name="Journe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0" cy="42519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ACTION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Starts an Evening Lesson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Hits a Hard Question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Runs Out of Hearts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Waits or Watches an Ad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Considers Super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TASK LIST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Opens Duolingo on his laptop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Sees his hearts at full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Starts the next French lesson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Gets a tricky verb question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Guesses twice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Loses a heart each time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Sees the out-of-hearts popup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Can't continue the lesson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Reads the options offered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Watches an ad for hearts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Or redoes easy practice instead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Closes the laptop if neither works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Sees the Super offer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Compares the price with his budget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Decides to wait until tomorrow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FEELING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Motivated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Tense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Blocked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Irritated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Torn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IMPROVEMENT OPPORTUNITY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Explain how hearts work once, clearly, at the start.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Offer a hint before a guess costs a heart.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Let him finish with guided practice instead of a hard stop.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Make earning hearts back practice on his real mistakes.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Show exactly what Super changes, with a trial first.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tx2"/>
                </a:solidFill>
              </a:rPr>
              <a:t>USER JOURNEY MAP</a:t>
            </a:r>
            <a:endParaRPr lang="en-US" sz="1100" dirty="0"/>
          </a:p>
        </p:txBody>
      </p:sp>
      <p:sp>
        <p:nvSpPr>
          <p:cNvPr id="3" name="Persona heading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2"/>
                </a:solidFill>
              </a:rPr>
              <a:t>Persona: </a:t>
            </a:r>
            <a:r>
              <a:rPr lang="en-US" sz="3000" b="1" dirty="0">
                <a:solidFill>
                  <a:schemeClr val="tx1"/>
                </a:solidFill>
              </a:rPr>
              <a:t>Meera Desai</a:t>
            </a:r>
            <a:endParaRPr lang="en-US" sz="3000" dirty="0"/>
          </a:p>
        </p:txBody>
      </p:sp>
      <p:sp>
        <p:nvSpPr>
          <p:cNvPr id="4" name="Persona role"/>
          <p:cNvSpPr txBox="1"/>
          <p:nvPr/>
        </p:nvSpPr>
        <p:spPr>
          <a:xfrm>
            <a:off x="54864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Returning Learner, Reviving School French</a:t>
            </a:r>
            <a:endParaRPr lang="en-US" sz="1400" dirty="0"/>
          </a:p>
        </p:txBody>
      </p:sp>
      <p:sp>
        <p:nvSpPr>
          <p:cNvPr id="5" name="Avatar"/>
          <p:cNvSpPr/>
          <p:nvPr/>
        </p:nvSpPr>
        <p:spPr>
          <a:xfrm>
            <a:off x="10908792" y="457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vatar initials"/>
          <p:cNvSpPr txBox="1"/>
          <p:nvPr/>
        </p:nvSpPr>
        <p:spPr>
          <a:xfrm>
            <a:off x="10908792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MD</a:t>
            </a:r>
            <a:endParaRPr lang="en-US" sz="1800" dirty="0"/>
          </a:p>
        </p:txBody>
      </p:sp>
      <p:graphicFrame>
        <p:nvGraphicFramePr>
          <p:cNvPr id="16" name="Journe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0" cy="4257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0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ACTION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Opens the App After a Break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Sees the Broken Streak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Looks for Her Level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Restarts Lessons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C3C"/>
                          </a:solidFill>
                        </a:rPr>
                        <a:t>Finishes a Comeback Lesson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TASK LIST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Opens the app after three weeks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Sees the reminders she ignored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Hesitates before tapping anything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Sees her streak back at zero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Remembers how long she had built it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Considers leaving the app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Looks for a way to skip ahead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Takes a placement quiz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Isn't sure the result fits what she knows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Revises old words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Finds some easy and some forgotten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Slowly warms up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Finishes a full lesson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Sees the streak at 1</a:t>
                      </a:r>
                      <a:endParaRPr lang="en-US" sz="1300" dirty="0"/>
                    </a:p>
                    <a:p>
                      <a:pPr marL="152400" indent="-152400"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Sets a gentler daily goal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FEELING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Guilty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Discouraged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Uncertain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Hopeful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1" dirty="0">
                          <a:solidFill>
                            <a:srgbClr val="3B8C00"/>
                          </a:solidFill>
                        </a:rPr>
                        <a:t>Relieved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50" dirty="0">
                          <a:solidFill>
                            <a:srgbClr val="777777"/>
                          </a:solidFill>
                        </a:rPr>
                        <a:t>IMPROVEMENT OPPORTUNITY</a:t>
                      </a:r>
                      <a:endParaRPr lang="en-US" sz="10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A friendly welcome back, with no guilt-trip.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Let a long break pause her record instead of erasing it.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Offer a quick check when someone returns after a long break.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Mix old words into the first lessons as a warm-up.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C3C"/>
                          </a:solidFill>
                        </a:rPr>
                        <a:t>Celebrate the return, not just the number.</a:t>
                      </a:r>
                      <a:endParaRPr lang="en-US" sz="1300" dirty="0"/>
                    </a:p>
                  </a:txBody>
                  <a:tcPr marL="101600" marR="101600" marT="101600" marB="101600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uolingo Minimal">
  <a:themeElements>
    <a:clrScheme name="Duolingo Minimal">
      <a:dk1>
        <a:srgbClr val="3C3C3C"/>
      </a:dk1>
      <a:lt1>
        <a:srgbClr val="FFFFFF"/>
      </a:lt1>
      <a:dk2>
        <a:srgbClr val="777777"/>
      </a:dk2>
      <a:lt2>
        <a:srgbClr val="F7F7F7"/>
      </a:lt2>
      <a:accent1>
        <a:srgbClr val="58CC02"/>
      </a:accent1>
      <a:accent2>
        <a:srgbClr val="3B8C00"/>
      </a:accent2>
      <a:accent3>
        <a:srgbClr val="E5F8D0"/>
      </a:accent3>
      <a:accent4>
        <a:srgbClr val="1CB0F6"/>
      </a:accent4>
      <a:accent5>
        <a:srgbClr val="FFC800"/>
      </a:accent5>
      <a:accent6>
        <a:srgbClr val="E5E5E5"/>
      </a:accent6>
      <a:hlink>
        <a:srgbClr val="1CB0F6"/>
      </a:hlink>
      <a:folHlink>
        <a:srgbClr val="777777"/>
      </a:folHlink>
    </a:clrScheme>
    <a:fontScheme name="Duolingo Minim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2142</Words>
  <Application>Microsoft Office PowerPoint</Application>
  <PresentationFormat>Widescreen</PresentationFormat>
  <Paragraphs>386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Duolingo Minimal</vt:lpstr>
      <vt:lpstr>UI/UX Assignment 02: Personas and User Journey</vt:lpstr>
      <vt:lpstr>Empathy Map</vt:lpstr>
      <vt:lpstr>User Pain Points</vt:lpstr>
      <vt:lpstr>Personas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User Journey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UI/UX Assignment 02: Personas and User Journey (Duolingo)</dc:title>
  <dc:subject>PptxGenJS Presentation</dc:subject>
  <dc:creator>PptxGenJS</dc:creator>
  <cp:lastModifiedBy>Daivik Sheth</cp:lastModifiedBy>
  <cp:revision>2</cp:revision>
  <dcterms:created xsi:type="dcterms:W3CDTF">2026-10-13T01:08:28Z</dcterms:created>
  <dcterms:modified xsi:type="dcterms:W3CDTF">2026-10-13T04:32:17Z</dcterms:modified>
</cp:coreProperties>
</file>